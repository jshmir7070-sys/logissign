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charts/chart1.xml" ContentType="application/vnd.openxmlformats-officedocument.drawingml.chart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연 매출</c:v>
                </c:pt>
              </c:strCache>
            </c:strRef>
          </c:tx>
          <c:spPr>
            <a:solidFill>
              <a:srgbClr val="00CEC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CEC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
(2026)</c:v>
                  </c:pt>
                  <c:pt idx="1">
                    <c:v>Year 2
(2027)</c:v>
                  </c:pt>
                  <c:pt idx="2">
                    <c:v>Year 3
(2028)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</c:v>
                </c:pt>
                <c:pt idx="1">
                  <c:v>156</c:v>
                </c:pt>
                <c:pt idx="2">
                  <c:v>480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CEC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9B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0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9B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11D3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-914400"/>
            <a:ext cx="4572000" cy="4572000"/>
          </a:xfrm>
          <a:prstGeom prst="ellipse">
            <a:avLst/>
          </a:prstGeom>
          <a:solidFill>
            <a:srgbClr val="004AC6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00CEC9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500" kern="0" dirty="0">
                <a:solidFill>
                  <a:srgbClr val="00C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PLAN 2026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logiSSign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731520" y="2331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(DeliSign)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31520" y="2926080"/>
            <a:ext cx="1371600" cy="36576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1546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라스트마일 배송 정산/계약 SaaS 플랫폼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37490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사업계획서  |  2026.03.31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28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C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목차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EC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2801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사업 개요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48132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정의 / 솔루션 / 시장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737360"/>
            <a:ext cx="7772400" cy="0"/>
          </a:xfrm>
          <a:prstGeom prst="line">
            <a:avLst/>
          </a:prstGeom>
          <a:noFill/>
          <a:ln w="6350">
            <a:solidFill>
              <a:srgbClr val="1E30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7830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EC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17830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플랫폼 기능 상세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198424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포털 / 모바일 앱 / 관리자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240280"/>
            <a:ext cx="7772400" cy="0"/>
          </a:xfrm>
          <a:prstGeom prst="line">
            <a:avLst/>
          </a:prstGeom>
          <a:noFill/>
          <a:ln w="6350">
            <a:solidFill>
              <a:srgbClr val="1E30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2860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EC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2286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기사앱 사용 설명서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248716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회원가입부터 전자서명까지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2743200"/>
            <a:ext cx="7772400" cy="0"/>
          </a:xfrm>
          <a:prstGeom prst="line">
            <a:avLst/>
          </a:prstGeom>
          <a:noFill/>
          <a:ln w="6350">
            <a:solidFill>
              <a:srgbClr val="1E30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7889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EC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27889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비즈니스 모델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299008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구독 요금제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246120"/>
            <a:ext cx="7772400" cy="0"/>
          </a:xfrm>
          <a:prstGeom prst="line">
            <a:avLst/>
          </a:prstGeom>
          <a:noFill/>
          <a:ln w="6350">
            <a:solidFill>
              <a:srgbClr val="1E30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2918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EC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8720" y="32918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아키텍처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88720" y="34930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풀스택 기술 스택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749040"/>
            <a:ext cx="7772400" cy="0"/>
          </a:xfrm>
          <a:prstGeom prst="line">
            <a:avLst/>
          </a:prstGeom>
          <a:noFill/>
          <a:ln w="6350">
            <a:solidFill>
              <a:srgbClr val="1E30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7947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EC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88720" y="37947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현황 및 로드맵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88720" y="399592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마일스톤 / 일정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4251960"/>
            <a:ext cx="7772400" cy="0"/>
          </a:xfrm>
          <a:prstGeom prst="line">
            <a:avLst/>
          </a:prstGeom>
          <a:noFill/>
          <a:ln w="6350">
            <a:solidFill>
              <a:srgbClr val="1E30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2976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EC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88720" y="42976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재무 계획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188720" y="449884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매출 전망 / 투자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28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C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라스트마일 배송 대리점의 현실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749040" cy="1417320"/>
          </a:xfrm>
          <a:prstGeom prst="rect">
            <a:avLst/>
          </a:prstGeom>
          <a:solidFill>
            <a:srgbClr val="111D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444752"/>
            <a:ext cx="45720" cy="127101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508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수기 정산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18288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엑셀 수작업으로 매월 수십명 기사 정산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오류 빈발, 정산 분쟁 반복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3749040" cy="1417320"/>
          </a:xfrm>
          <a:prstGeom prst="rect">
            <a:avLst/>
          </a:prstGeom>
          <a:solidFill>
            <a:srgbClr val="111D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444752"/>
            <a:ext cx="45720" cy="1271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508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종이 계약서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8288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서류 분실, 보관 비용 증가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법적 분쟁 시 증거력 약화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3749040" cy="1417320"/>
          </a:xfrm>
          <a:prstGeom prst="rect">
            <a:avLst/>
          </a:prstGeom>
          <a:solidFill>
            <a:srgbClr val="111D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136392"/>
            <a:ext cx="45720" cy="1271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200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교육 미비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35204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법정 의무교육 이수 관리 부재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미이수 시 과태료 위험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3063240"/>
            <a:ext cx="3749040" cy="1417320"/>
          </a:xfrm>
          <a:prstGeom prst="rect">
            <a:avLst/>
          </a:prstGeom>
          <a:solidFill>
            <a:srgbClr val="111D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3136392"/>
            <a:ext cx="45720" cy="127101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3200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비효율적 관리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0" y="35204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기사별 단가/공제가 모두 다름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대리점주 과로 및 실수 유발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28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C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logiSSign이 해결합니다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920240" cy="2560320"/>
          </a:xfrm>
          <a:prstGeom prst="rect">
            <a:avLst/>
          </a:prstGeom>
          <a:solidFill>
            <a:srgbClr val="111D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88720" y="1554480"/>
            <a:ext cx="594360" cy="594360"/>
          </a:xfrm>
          <a:prstGeom prst="ellipse">
            <a:avLst/>
          </a:prstGeom>
          <a:solidFill>
            <a:srgbClr val="004AC6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1591056"/>
            <a:ext cx="594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CEC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2331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정산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69748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엑셀 업로드 → 자동 계산 → 기사앱 발송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오류 제로, 정산 시간 90% 단축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51760" y="1371600"/>
            <a:ext cx="1920240" cy="2560320"/>
          </a:xfrm>
          <a:prstGeom prst="rect">
            <a:avLst/>
          </a:prstGeom>
          <a:solidFill>
            <a:srgbClr val="111D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554480"/>
            <a:ext cx="594360" cy="594360"/>
          </a:xfrm>
          <a:prstGeom prst="ellipse">
            <a:avLst/>
          </a:prstGeom>
          <a:solidFill>
            <a:srgbClr val="004AC6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591056"/>
            <a:ext cx="594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CEC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788920" y="2331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전자계약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88920" y="269748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법적 효력 전자서명 + 감사 추적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자동 생성 및 안전 보관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371600"/>
            <a:ext cx="1920240" cy="2560320"/>
          </a:xfrm>
          <a:prstGeom prst="rect">
            <a:avLst/>
          </a:prstGeom>
          <a:solidFill>
            <a:srgbClr val="111D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94960" y="1554480"/>
            <a:ext cx="594360" cy="594360"/>
          </a:xfrm>
          <a:prstGeom prst="ellipse">
            <a:avLst/>
          </a:prstGeom>
          <a:solidFill>
            <a:srgbClr val="004AC6">
              <a:alpha val="4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394960" y="1591056"/>
            <a:ext cx="594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CEC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892040" y="2331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법정교육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269748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동영상 + 텍스트 + 퀴즈 학습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이수증 발급 및 관리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58000" y="1371600"/>
            <a:ext cx="1920240" cy="2560320"/>
          </a:xfrm>
          <a:prstGeom prst="rect">
            <a:avLst/>
          </a:prstGeom>
          <a:solidFill>
            <a:srgbClr val="111D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98080" y="1554480"/>
            <a:ext cx="594360" cy="594360"/>
          </a:xfrm>
          <a:prstGeom prst="ellipse">
            <a:avLst/>
          </a:prstGeom>
          <a:solidFill>
            <a:srgbClr val="004AC6">
              <a:alpha val="4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7498080" y="1591056"/>
            <a:ext cx="594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CEC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995160" y="2331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 관리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95160" y="269748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기사 등록, 정산, 계약, 세금계산서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하나의 플랫폼에서 올인원 처리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4206240"/>
            <a:ext cx="8046720" cy="502920"/>
          </a:xfrm>
          <a:prstGeom prst="rect">
            <a:avLst/>
          </a:prstGeom>
          <a:solidFill>
            <a:srgbClr val="111D32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42062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정산 자동화  +  전자계약  +  법정교육  =  올인원 SaaS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28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C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시장 기회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828800" cy="1005840"/>
          </a:xfrm>
          <a:prstGeom prst="rect">
            <a:avLst/>
          </a:prstGeom>
          <a:solidFill>
            <a:srgbClr val="111D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4813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EC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28조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택배/퀵 배송 시장 (2025)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1371600"/>
            <a:ext cx="1828800" cy="1005840"/>
          </a:xfrm>
          <a:prstGeom prst="rect">
            <a:avLst/>
          </a:prstGeom>
          <a:solidFill>
            <a:srgbClr val="111D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06040" y="14813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15,000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606040" y="1920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라스트마일 대리점 (전국)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1828800" cy="1005840"/>
          </a:xfrm>
          <a:prstGeom prst="rect">
            <a:avLst/>
          </a:prstGeom>
          <a:solidFill>
            <a:srgbClr val="111D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14813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EC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50만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663440" y="1920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배송 기사 수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20840" y="1371600"/>
            <a:ext cx="1828800" cy="1005840"/>
          </a:xfrm>
          <a:prstGeom prst="rect">
            <a:avLst/>
          </a:prstGeom>
          <a:solidFill>
            <a:srgbClr val="111D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20840" y="14813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20~80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720840" y="1920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대리점당 관리 기사 수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2743200"/>
            <a:ext cx="8046720" cy="2011680"/>
          </a:xfrm>
          <a:prstGeom prst="rect">
            <a:avLst/>
          </a:prstGeom>
          <a:solidFill>
            <a:srgbClr val="111D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296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시장 규모 분석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3291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EC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TAM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14400" y="3611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15,000 대리점 × ₩49,900/월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400" y="3931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 약 90억원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566160" y="3291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SAM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566160" y="3611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수도권 + 광역시 7,000개소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566160" y="3931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 약 42억원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17920" y="3291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SOM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217920" y="3611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초기 500 대리점 목표 (3년)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0" y="3931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 약 4.8억원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28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C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EDGE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차별화 포인트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6858000" cy="685800"/>
          </a:xfrm>
          <a:prstGeom prst="rect">
            <a:avLst/>
          </a:prstGeom>
          <a:solidFill>
            <a:srgbClr val="111D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444752"/>
            <a:ext cx="45720" cy="53949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463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엑셀/수작업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71907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자동화로 정산 시간 90% 단축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589520" y="1463040"/>
            <a:ext cx="1005840" cy="502920"/>
          </a:xfrm>
          <a:prstGeom prst="rect">
            <a:avLst/>
          </a:prstGeom>
          <a:solidFill>
            <a:srgbClr val="004AC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589520" y="14630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90%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2240280"/>
            <a:ext cx="6858000" cy="685800"/>
          </a:xfrm>
          <a:prstGeom prst="rect">
            <a:avLst/>
          </a:prstGeom>
          <a:solidFill>
            <a:srgbClr val="111D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313432"/>
            <a:ext cx="45720" cy="539496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331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ERP 솔루션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25877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배송 대리점 특화 (학습 비용 1/10)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589520" y="2331720"/>
            <a:ext cx="1005840" cy="502920"/>
          </a:xfrm>
          <a:prstGeom prst="rect">
            <a:avLst/>
          </a:prstGeom>
          <a:solidFill>
            <a:srgbClr val="004AC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589520" y="23317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1/10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3108960"/>
            <a:ext cx="6858000" cy="685800"/>
          </a:xfrm>
          <a:prstGeom prst="rect">
            <a:avLst/>
          </a:prstGeom>
          <a:solidFill>
            <a:srgbClr val="111D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182112"/>
            <a:ext cx="45720" cy="5394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200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기존 물류 SW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" y="34564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기사앱+전자서명+교육 통합 유일 솔루션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589520" y="3200400"/>
            <a:ext cx="1005840" cy="502920"/>
          </a:xfrm>
          <a:prstGeom prst="rect">
            <a:avLst/>
          </a:prstGeom>
          <a:solidFill>
            <a:srgbClr val="004AC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589520" y="32004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Only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8640" y="3977640"/>
            <a:ext cx="6858000" cy="685800"/>
          </a:xfrm>
          <a:prstGeom prst="rect">
            <a:avLst/>
          </a:prstGeom>
          <a:solidFill>
            <a:srgbClr val="111D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4050792"/>
            <a:ext cx="45720" cy="53949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069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자체 개발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7240" y="432511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초기 투자 없이 월구독 SaaS 시작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589520" y="4069080"/>
            <a:ext cx="1005840" cy="502920"/>
          </a:xfrm>
          <a:prstGeom prst="rect">
            <a:avLst/>
          </a:prstGeom>
          <a:solidFill>
            <a:srgbClr val="004AC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589520" y="406908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₩0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28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C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투 사이드 플랫폼 구성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2697480" cy="3383280"/>
          </a:xfrm>
          <a:prstGeom prst="rect">
            <a:avLst/>
          </a:prstGeom>
          <a:solidFill>
            <a:srgbClr val="111D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71600"/>
            <a:ext cx="2697480" cy="502920"/>
          </a:xfrm>
          <a:prstGeom prst="rect">
            <a:avLst/>
          </a:prstGeom>
          <a:solidFill>
            <a:srgbClr val="004AC6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3716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포털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66420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대리점 운영자용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2011680"/>
            <a:ext cx="2331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 (KPI)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기사 관리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정산 생성/관리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계약 발송/추적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세금계산서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매출 리포트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371600"/>
            <a:ext cx="2697480" cy="3383280"/>
          </a:xfrm>
          <a:prstGeom prst="rect">
            <a:avLst/>
          </a:prstGeom>
          <a:solidFill>
            <a:srgbClr val="111D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371600"/>
            <a:ext cx="2697480" cy="502920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3716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모바일 앱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166420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배송 기사용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74720" y="2011680"/>
            <a:ext cx="2331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정산 조회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전자서명 계약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법정교육 이수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공지사항 확인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프로필 관리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알림 수신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371600"/>
            <a:ext cx="2697480" cy="3383280"/>
          </a:xfrm>
          <a:prstGeom prst="rect">
            <a:avLst/>
          </a:prstGeom>
          <a:solidFill>
            <a:srgbClr val="111D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371600"/>
            <a:ext cx="269748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13716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관리자 대시보드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166420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운영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0" y="2011680"/>
            <a:ext cx="2331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대리점 관리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구독/요금제 관리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지표 (MRR)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빌링 관리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 설정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 통계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28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C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PORTAL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대리점 운영자 대시보드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874520" cy="868680"/>
          </a:xfrm>
          <a:prstGeom prst="rect">
            <a:avLst/>
          </a:prstGeom>
          <a:solidFill>
            <a:srgbClr val="111D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3716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EC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₩28.4M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이번달 정산액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51760" y="1325880"/>
            <a:ext cx="1874520" cy="868680"/>
          </a:xfrm>
          <a:prstGeom prst="rect">
            <a:avLst/>
          </a:prstGeom>
          <a:solidFill>
            <a:srgbClr val="111D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51760" y="13716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47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651760" y="17830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활성 기사 수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325880"/>
            <a:ext cx="1874520" cy="868680"/>
          </a:xfrm>
          <a:prstGeom prst="rect">
            <a:avLst/>
          </a:prstGeom>
          <a:solidFill>
            <a:srgbClr val="111D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13716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754880" y="17830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미서명 계약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0" y="1325880"/>
            <a:ext cx="1874520" cy="868680"/>
          </a:xfrm>
          <a:prstGeom prst="rect">
            <a:avLst/>
          </a:prstGeom>
          <a:solidFill>
            <a:srgbClr val="111D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0" y="13716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858000" y="17830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미발행 세금계산서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2468880"/>
            <a:ext cx="3749040" cy="1005840"/>
          </a:xfrm>
          <a:prstGeom prst="rect">
            <a:avLst/>
          </a:prstGeom>
          <a:solidFill>
            <a:srgbClr val="111D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2542032"/>
            <a:ext cx="45720" cy="859536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2560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6개월 추이 차트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28346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매출/비용/이익 트렌드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월별 비교 분석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468880"/>
            <a:ext cx="3749040" cy="1005840"/>
          </a:xfrm>
          <a:prstGeom prst="rect">
            <a:avLst/>
          </a:prstGeom>
          <a:solidFill>
            <a:srgbClr val="111D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2542032"/>
            <a:ext cx="45720" cy="859536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2560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기사별 정산 현황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46320" y="28346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이름, 정산액, 공제액, 순지급액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상태별 필터링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3657600"/>
            <a:ext cx="3749040" cy="1005840"/>
          </a:xfrm>
          <a:prstGeom prst="rect">
            <a:avLst/>
          </a:prstGeom>
          <a:solidFill>
            <a:srgbClr val="111D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8640" y="3730752"/>
            <a:ext cx="45720" cy="859536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3749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최근 활동 로그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1520" y="40233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계약/정산/등록 이벤트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타임라인 형태 표시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3657600"/>
            <a:ext cx="3749040" cy="1005840"/>
          </a:xfrm>
          <a:prstGeom prst="rect">
            <a:avLst/>
          </a:prstGeom>
          <a:solidFill>
            <a:srgbClr val="111D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3730752"/>
            <a:ext cx="45720" cy="859536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3749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빠른 작업 버튼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46320" y="40233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정산 생성, 계약 발송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세금계산서 발행 바로가기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28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C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정산 자동화 핵심 기능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4114800" cy="3383280"/>
          </a:xfrm>
          <a:prstGeom prst="rect">
            <a:avLst/>
          </a:prstGeom>
          <a:solidFill>
            <a:srgbClr val="111D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계층적 단가 체계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1920240"/>
            <a:ext cx="3566160" cy="640080"/>
          </a:xfrm>
          <a:prstGeom prst="rect">
            <a:avLst/>
          </a:prstGeom>
          <a:solidFill>
            <a:srgbClr val="004AC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9659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대리점 규칙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221284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배송/반품/집하 단가 설정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11680" y="2542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CE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override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22960" y="2743200"/>
            <a:ext cx="3566160" cy="640080"/>
          </a:xfrm>
          <a:prstGeom prst="rect">
            <a:avLst/>
          </a:prstGeom>
          <a:solidFill>
            <a:srgbClr val="16203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7889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기사별 단가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303580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기사마다 다른 단가 오버라이드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011680" y="33649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CE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override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22960" y="3566160"/>
            <a:ext cx="3566160" cy="640080"/>
          </a:xfrm>
          <a:prstGeom prst="rect">
            <a:avLst/>
          </a:prstGeom>
          <a:solidFill>
            <a:srgbClr val="16203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611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노선별 단가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38587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특정 노선 프리미엄 단가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46320" y="1371600"/>
            <a:ext cx="3749040" cy="3383280"/>
          </a:xfrm>
          <a:prstGeom prst="rect">
            <a:avLst/>
          </a:prstGeom>
          <a:solidFill>
            <a:srgbClr val="111D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74920" y="1463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기능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74920" y="1828800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엑셀 업로드: 쿠팡/CJ/한진 자동 파싱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컬럼 매핑: 유연한 엑셀 형식 지원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정산 항목: 배송건수, 기본급, 인센티브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공제 계산: 보험/통신/유류비 자동 산출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 처리: 사업자/개인 자동 구분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세금계산서: 사업자 기사 역발행 자동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 관리: 임시저장→발송→확인완료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28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C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전자계약 관리 시스템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8046720" cy="1188720"/>
          </a:xfrm>
          <a:prstGeom prst="rect">
            <a:avLst/>
          </a:prstGeom>
          <a:solidFill>
            <a:srgbClr val="111D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417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계약 처리 플로우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828800"/>
            <a:ext cx="502920" cy="502920"/>
          </a:xfrm>
          <a:prstGeom prst="ellipse">
            <a:avLst/>
          </a:prstGeom>
          <a:solidFill>
            <a:srgbClr val="004AC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18288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템플릿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280160" y="2075688"/>
            <a:ext cx="1051560" cy="0"/>
          </a:xfrm>
          <a:prstGeom prst="line">
            <a:avLst/>
          </a:prstGeom>
          <a:noFill/>
          <a:ln w="19050">
            <a:solidFill>
              <a:srgbClr val="00CEC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77440" y="1828800"/>
            <a:ext cx="502920" cy="502920"/>
          </a:xfrm>
          <a:prstGeom prst="ellipse">
            <a:avLst/>
          </a:prstGeom>
          <a:solidFill>
            <a:srgbClr val="004AC6"/>
          </a:solidFill>
          <a:ln/>
        </p:spPr>
      </p:sp>
      <p:sp>
        <p:nvSpPr>
          <p:cNvPr id="13" name="Text 11"/>
          <p:cNvSpPr/>
          <p:nvPr/>
        </p:nvSpPr>
        <p:spPr>
          <a:xfrm>
            <a:off x="23774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03120" y="18288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변수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자동채움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926080" y="2075688"/>
            <a:ext cx="1051560" cy="0"/>
          </a:xfrm>
          <a:prstGeom prst="line">
            <a:avLst/>
          </a:prstGeom>
          <a:noFill/>
          <a:ln w="19050">
            <a:solidFill>
              <a:srgbClr val="00CEC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23360" y="1828800"/>
            <a:ext cx="502920" cy="502920"/>
          </a:xfrm>
          <a:prstGeom prst="ellipse">
            <a:avLst/>
          </a:prstGeom>
          <a:solidFill>
            <a:srgbClr val="004AC6"/>
          </a:solidFill>
          <a:ln/>
        </p:spPr>
      </p:sp>
      <p:sp>
        <p:nvSpPr>
          <p:cNvPr id="17" name="Text 15"/>
          <p:cNvSpPr/>
          <p:nvPr/>
        </p:nvSpPr>
        <p:spPr>
          <a:xfrm>
            <a:off x="402336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749040" y="18288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기사에게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발송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2075688"/>
            <a:ext cx="1051560" cy="0"/>
          </a:xfrm>
          <a:prstGeom prst="line">
            <a:avLst/>
          </a:prstGeom>
          <a:noFill/>
          <a:ln w="19050">
            <a:solidFill>
              <a:srgbClr val="00CEC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0" y="1828800"/>
            <a:ext cx="502920" cy="502920"/>
          </a:xfrm>
          <a:prstGeom prst="ellipse">
            <a:avLst/>
          </a:prstGeom>
          <a:solidFill>
            <a:srgbClr val="004AC6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94960" y="18288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기사가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조회/서명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217920" y="2075688"/>
            <a:ext cx="1051560" cy="0"/>
          </a:xfrm>
          <a:prstGeom prst="line">
            <a:avLst/>
          </a:prstGeom>
          <a:noFill/>
          <a:ln w="19050">
            <a:solidFill>
              <a:srgbClr val="00CEC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0" y="1828800"/>
            <a:ext cx="502920" cy="502920"/>
          </a:xfrm>
          <a:prstGeom prst="ellipse">
            <a:avLst/>
          </a:prstGeom>
          <a:solidFill>
            <a:srgbClr val="004AC6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040880" y="18288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서명PDF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" y="2834640"/>
            <a:ext cx="1920240" cy="1280160"/>
          </a:xfrm>
          <a:prstGeom prst="rect">
            <a:avLst/>
          </a:prstGeom>
          <a:solidFill>
            <a:srgbClr val="111D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8640" y="2907792"/>
            <a:ext cx="45720" cy="113385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9" name="Text 27"/>
          <p:cNvSpPr/>
          <p:nvPr/>
        </p:nvSpPr>
        <p:spPr>
          <a:xfrm>
            <a:off x="713232" y="292608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템플릿 시스템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13232" y="320040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자동 변수 바인딩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기사명, 단가, 보험 등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651760" y="2834640"/>
            <a:ext cx="1920240" cy="1280160"/>
          </a:xfrm>
          <a:prstGeom prst="rect">
            <a:avLst/>
          </a:prstGeom>
          <a:solidFill>
            <a:srgbClr val="111D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651760" y="2907792"/>
            <a:ext cx="45720" cy="113385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3" name="Text 31"/>
          <p:cNvSpPr/>
          <p:nvPr/>
        </p:nvSpPr>
        <p:spPr>
          <a:xfrm>
            <a:off x="2816352" y="292608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카테고리별 계약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816352" y="320040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택배사별 다른 조건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적용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2834640"/>
            <a:ext cx="1920240" cy="1280160"/>
          </a:xfrm>
          <a:prstGeom prst="rect">
            <a:avLst/>
          </a:prstGeom>
          <a:solidFill>
            <a:srgbClr val="111D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2907792"/>
            <a:ext cx="45720" cy="113385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7" name="Text 35"/>
          <p:cNvSpPr/>
          <p:nvPr/>
        </p:nvSpPr>
        <p:spPr>
          <a:xfrm>
            <a:off x="4919472" y="292608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 추적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919472" y="320040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IP, 디바이스, 동의내역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 기록 자동 수집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858000" y="2834640"/>
            <a:ext cx="1920240" cy="1280160"/>
          </a:xfrm>
          <a:prstGeom prst="rect">
            <a:avLst/>
          </a:prstGeom>
          <a:solidFill>
            <a:srgbClr val="111D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858000" y="2907792"/>
            <a:ext cx="45720" cy="113385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1" name="Text 39"/>
          <p:cNvSpPr/>
          <p:nvPr/>
        </p:nvSpPr>
        <p:spPr>
          <a:xfrm>
            <a:off x="7022592" y="292608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변경 요청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022592" y="320040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단가/보험 변경 알림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기사 수락/거부 관리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28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C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기사 및 카테고리 관리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931920" cy="3291840"/>
          </a:xfrm>
          <a:prstGeom prst="rect">
            <a:avLst/>
          </a:prstGeom>
          <a:solidFill>
            <a:srgbClr val="111D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463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기사 관리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82880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기사 등록/수정/삭제 (CRUD)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개인정보: 이름, 연락처, 주소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차량 정보: 차량번호, 면허번호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세금 유형: 사업자/개인/3.3% 원천징수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 관리: 활동/휴식/비활성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초대 코드: 기사가 앱에서 직접 가입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31920" cy="3291840"/>
          </a:xfrm>
          <a:prstGeom prst="rect">
            <a:avLst/>
          </a:prstGeom>
          <a:solidFill>
            <a:srgbClr val="111D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1463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카테고리(주선사) 관리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82880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택배사별 카테고리 설정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CJ, 쿠팡, 한진 등 개별 관리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카테고리별 배송/반품/집하 단가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카테고리별 공제 항목 설정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보험료율 (고용/산재) 개별 설정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엑셀 업로드 매핑 프리셋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28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C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ADMIN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SaaS 운영 관리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840480" cy="1371600"/>
          </a:xfrm>
          <a:prstGeom prst="rect">
            <a:avLst/>
          </a:prstGeom>
          <a:solidFill>
            <a:srgbClr val="111D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444752"/>
            <a:ext cx="45720" cy="1225296"/>
          </a:xfrm>
          <a:prstGeom prst="rect">
            <a:avLst/>
          </a:prstGeom>
          <a:solidFill>
            <a:srgbClr val="004AC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508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대리점 관리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18745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가입/활성/정지/해지 상태 추적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대리점별 기사 수 및 이용 현황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3840480" cy="1371600"/>
          </a:xfrm>
          <a:prstGeom prst="rect">
            <a:avLst/>
          </a:prstGeom>
          <a:solidFill>
            <a:srgbClr val="111D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444752"/>
            <a:ext cx="45720" cy="1225296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508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구독 관리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8745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/ Basic / Standard / Enterprise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요금제별 기능 제한 및 업그레이드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017520"/>
            <a:ext cx="3840480" cy="1371600"/>
          </a:xfrm>
          <a:prstGeom prst="rect">
            <a:avLst/>
          </a:prstGeom>
          <a:solidFill>
            <a:srgbClr val="111D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090672"/>
            <a:ext cx="45720" cy="12252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154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지표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35204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MRR, 대리점 수, 요금제 분포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이탈률, 활성 사용자 수 추적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3017520"/>
            <a:ext cx="3840480" cy="1371600"/>
          </a:xfrm>
          <a:prstGeom prst="rect">
            <a:avLst/>
          </a:prstGeom>
          <a:solidFill>
            <a:srgbClr val="111D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3090672"/>
            <a:ext cx="45720" cy="122529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3154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빌링 설정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37760" y="35204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 주기: 월/1년/2년/3년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 수단 관리 및 청구서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28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4AC6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500" kern="0" dirty="0">
                <a:solidFill>
                  <a:srgbClr val="00C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기사앱 사용 설명서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배송 기사를 위한 올인원 모바일 앱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2926080"/>
            <a:ext cx="1463040" cy="1371600"/>
          </a:xfrm>
          <a:prstGeom prst="rect">
            <a:avLst/>
          </a:prstGeom>
          <a:solidFill>
            <a:srgbClr val="111D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30632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EC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홈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4290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예상 정산액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77440" y="2926080"/>
            <a:ext cx="1463040" cy="1371600"/>
          </a:xfrm>
          <a:prstGeom prst="rect">
            <a:avLst/>
          </a:prstGeom>
          <a:solidFill>
            <a:srgbClr val="111D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377440" y="30632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EC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정산서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377440" y="34290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월별 정산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내역 조회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023360" y="2926080"/>
            <a:ext cx="1463040" cy="1371600"/>
          </a:xfrm>
          <a:prstGeom prst="rect">
            <a:avLst/>
          </a:prstGeom>
          <a:solidFill>
            <a:srgbClr val="111D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023360" y="30632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EC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계약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023360" y="34290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전자서명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계약 관리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0" y="2926080"/>
            <a:ext cx="1463040" cy="1371600"/>
          </a:xfrm>
          <a:prstGeom prst="rect">
            <a:avLst/>
          </a:prstGeom>
          <a:solidFill>
            <a:srgbClr val="111D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669280" y="30632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EC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교육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669280" y="34290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법정교육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이수 관리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0" y="2926080"/>
            <a:ext cx="1463040" cy="1371600"/>
          </a:xfrm>
          <a:prstGeom prst="rect">
            <a:avLst/>
          </a:prstGeom>
          <a:solidFill>
            <a:srgbClr val="111D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15200" y="30632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EC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프로필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15200" y="34290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 정보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알림 설정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28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C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GUIDE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1: 회원가입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411480" cy="411480"/>
          </a:xfrm>
          <a:prstGeom prst="ellipse">
            <a:avLst/>
          </a:prstGeom>
          <a:solidFill>
            <a:srgbClr val="00CEC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325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초대코드 입력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15819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대리점에서 발급받은 초대코드 입력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소속 대리점 자동 연결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41248" y="1801368"/>
            <a:ext cx="0" cy="228600"/>
          </a:xfrm>
          <a:prstGeom prst="line">
            <a:avLst/>
          </a:prstGeom>
          <a:noFill/>
          <a:ln w="12700">
            <a:solidFill>
              <a:srgbClr val="1E30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084832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084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20391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개인정보 입력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229514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이름, 생년월일 입력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프로필 정보 등록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41248" y="2514600"/>
            <a:ext cx="0" cy="228600"/>
          </a:xfrm>
          <a:prstGeom prst="line">
            <a:avLst/>
          </a:prstGeom>
          <a:noFill/>
          <a:ln w="12700">
            <a:solidFill>
              <a:srgbClr val="1E30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2798064"/>
            <a:ext cx="411480" cy="411480"/>
          </a:xfrm>
          <a:prstGeom prst="ellipse">
            <a:avLst/>
          </a:prstGeom>
          <a:solidFill>
            <a:srgbClr val="00CEC9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7980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27523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휴대폰 인증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34440" y="30083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OTP 발송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인증번호 6자리 입력 확인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41248" y="3227832"/>
            <a:ext cx="0" cy="228600"/>
          </a:xfrm>
          <a:prstGeom prst="line">
            <a:avLst/>
          </a:prstGeom>
          <a:noFill/>
          <a:ln w="12700">
            <a:solidFill>
              <a:srgbClr val="1E30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511296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5112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34440" y="34655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비밀번호 설정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34440" y="37216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비밀번호 6자리 이상 설정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비밀번호 확인 입력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41248" y="3941064"/>
            <a:ext cx="0" cy="228600"/>
          </a:xfrm>
          <a:prstGeom prst="line">
            <a:avLst/>
          </a:prstGeom>
          <a:noFill/>
          <a:ln w="12700">
            <a:solidFill>
              <a:srgbClr val="1E30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4224528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2245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34440" y="41788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가입 완료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34440" y="4434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계정 생성 + 기사 프로필 등록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로그인 → 홈 화면 이동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28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C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GUIDE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2: 로그인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4114800" cy="3200400"/>
          </a:xfrm>
          <a:prstGeom prst="rect">
            <a:avLst/>
          </a:prstGeom>
          <a:solidFill>
            <a:srgbClr val="111D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463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화면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92024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휴대폰 번호 입력 (010-XXXX-XXXX)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비밀번호 입력 (보안 입력)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버튼 터치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세션 유지 (재로그인 불필요)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인증 실패 시 에러 알림 표시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371600"/>
            <a:ext cx="3749040" cy="3200400"/>
          </a:xfrm>
          <a:prstGeom prst="rect">
            <a:avLst/>
          </a:prstGeom>
          <a:solidFill>
            <a:srgbClr val="111D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74920" y="1463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참고 사항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74920" y="192024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 기반 인증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세션 자동 갱신 (토큰 관리)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로그아웃: 프로필 탭 하단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비밀번호 분실 시 재설정 가능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28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C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TAB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홈 탭: 한눈에 보는 내 현황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4114800" cy="1463040"/>
          </a:xfrm>
          <a:prstGeom prst="rect">
            <a:avLst/>
          </a:prstGeom>
          <a:solidFill>
            <a:srgbClr val="111D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463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이번달 예상 정산액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737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CEC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₩2,840,000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77240" y="22402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기본급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" y="24231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₩2,200,000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57400" y="22402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인센티브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057400" y="24231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+₩740,000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37560" y="22402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공제액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37560" y="24231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-₩100,000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1371600"/>
            <a:ext cx="3749040" cy="1463040"/>
          </a:xfrm>
          <a:prstGeom prst="rect">
            <a:avLst/>
          </a:prstGeom>
          <a:solidFill>
            <a:srgbClr val="111D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74920" y="1463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빠른 이동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74920" y="1783080"/>
            <a:ext cx="1554480" cy="365760"/>
          </a:xfrm>
          <a:prstGeom prst="rect">
            <a:avLst/>
          </a:prstGeom>
          <a:solidFill>
            <a:srgbClr val="162036"/>
          </a:solidFill>
          <a:ln/>
        </p:spPr>
      </p:sp>
      <p:sp>
        <p:nvSpPr>
          <p:cNvPr id="18" name="Text 16"/>
          <p:cNvSpPr/>
          <p:nvPr/>
        </p:nvSpPr>
        <p:spPr>
          <a:xfrm>
            <a:off x="5074920" y="17830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정산서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1783080"/>
            <a:ext cx="1554480" cy="365760"/>
          </a:xfrm>
          <a:prstGeom prst="rect">
            <a:avLst/>
          </a:prstGeom>
          <a:solidFill>
            <a:srgbClr val="162036"/>
          </a:solidFill>
          <a:ln/>
        </p:spPr>
      </p:sp>
      <p:sp>
        <p:nvSpPr>
          <p:cNvPr id="20" name="Text 18"/>
          <p:cNvSpPr/>
          <p:nvPr/>
        </p:nvSpPr>
        <p:spPr>
          <a:xfrm>
            <a:off x="6812280" y="17830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세금계산서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74920" y="2240280"/>
            <a:ext cx="1554480" cy="365760"/>
          </a:xfrm>
          <a:prstGeom prst="rect">
            <a:avLst/>
          </a:prstGeom>
          <a:solidFill>
            <a:srgbClr val="162036"/>
          </a:solidFill>
          <a:ln/>
        </p:spPr>
      </p:sp>
      <p:sp>
        <p:nvSpPr>
          <p:cNvPr id="22" name="Text 20"/>
          <p:cNvSpPr/>
          <p:nvPr/>
        </p:nvSpPr>
        <p:spPr>
          <a:xfrm>
            <a:off x="5074920" y="2240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공지사항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12280" y="2240280"/>
            <a:ext cx="1554480" cy="365760"/>
          </a:xfrm>
          <a:prstGeom prst="rect">
            <a:avLst/>
          </a:prstGeom>
          <a:solidFill>
            <a:srgbClr val="162036"/>
          </a:solidFill>
          <a:ln/>
        </p:spPr>
      </p:sp>
      <p:sp>
        <p:nvSpPr>
          <p:cNvPr id="24" name="Text 22"/>
          <p:cNvSpPr/>
          <p:nvPr/>
        </p:nvSpPr>
        <p:spPr>
          <a:xfrm>
            <a:off x="6812280" y="2240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계약서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063240"/>
            <a:ext cx="4114800" cy="1645920"/>
          </a:xfrm>
          <a:prstGeom prst="rect">
            <a:avLst/>
          </a:prstGeom>
          <a:solidFill>
            <a:srgbClr val="111D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77240" y="31546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최근 정산 내역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7240" y="34747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3월  |  ₩2,840,000  |  미정산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7240" y="3749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2월  |  ₩3,120,000  |  정산완료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3063240"/>
            <a:ext cx="3749040" cy="1645920"/>
          </a:xfrm>
          <a:prstGeom prst="rect">
            <a:avLst/>
          </a:prstGeom>
          <a:solidFill>
            <a:srgbClr val="111D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074920" y="31546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최근 공지사항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74920" y="347472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3월 정산 안내사항  |  2026.03.25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74920" y="374904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안전운전 가이드 업데이트  |  2026.03.20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 28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C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정산서 탭: 월별 정산 내역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4114800" cy="3383280"/>
          </a:xfrm>
          <a:prstGeom prst="rect">
            <a:avLst/>
          </a:prstGeom>
          <a:solidFill>
            <a:srgbClr val="111D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정산 목록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8288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선택 드롭다운으로 조회 기간 변경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정산 카드: 월별 총액 + 상태 뱃지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상태: 미정산 / 확인중 / 정산완료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카드 터치 → 확장: 기본급/인센티브/공제/총액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3474720"/>
            <a:ext cx="1097280" cy="320040"/>
          </a:xfrm>
          <a:prstGeom prst="rect">
            <a:avLst/>
          </a:prstGeom>
          <a:solidFill>
            <a:srgbClr val="EF4444">
              <a:alpha val="3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747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미정산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03120" y="3474720"/>
            <a:ext cx="1097280" cy="320040"/>
          </a:xfrm>
          <a:prstGeom prst="rect">
            <a:avLst/>
          </a:prstGeom>
          <a:solidFill>
            <a:srgbClr val="F59E0B">
              <a:alpha val="3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103120" y="34747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확인중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83280" y="3474720"/>
            <a:ext cx="1097280" cy="320040"/>
          </a:xfrm>
          <a:prstGeom prst="rect">
            <a:avLst/>
          </a:prstGeom>
          <a:solidFill>
            <a:srgbClr val="10B981">
              <a:alpha val="3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0" y="34747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정산완료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1371600"/>
            <a:ext cx="3749040" cy="3383280"/>
          </a:xfrm>
          <a:prstGeom prst="rect">
            <a:avLst/>
          </a:prstGeom>
          <a:solidFill>
            <a:srgbClr val="111D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74920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상세 화면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74920" y="18288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배송 건수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0" y="18288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150건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74920" y="22402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기본금액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0" y="22402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₩2,200,000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74920" y="26517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인센티브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0" y="26517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+₩740,000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74920" y="30632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수입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0" y="30632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₩2,940,000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74920" y="3337560"/>
            <a:ext cx="3291840" cy="0"/>
          </a:xfrm>
          <a:prstGeom prst="line">
            <a:avLst/>
          </a:prstGeom>
          <a:noFill/>
          <a:ln w="6350">
            <a:solidFill>
              <a:srgbClr val="1E30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34747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공제(보험/통신/유류)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0" y="34747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-₩100,000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74920" y="38862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지급액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58000" y="38862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C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₩2,840,000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/ 28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C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계약 탭: 전자계약 서명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4114800" cy="3383280"/>
          </a:xfrm>
          <a:prstGeom prst="rect">
            <a:avLst/>
          </a:prstGeom>
          <a:solidFill>
            <a:srgbClr val="111D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463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계약 목록 화면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82880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미서명 계약: 서명 필요 알림 표시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서명됨: 체크 아이콘 + 서명 날짜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확인중: 운영사 검토 중 상태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만료: 기한 초과 계약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빈 상태: '계약서가 없습니다' 안내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3931920"/>
            <a:ext cx="822960" cy="274320"/>
          </a:xfrm>
          <a:prstGeom prst="rect">
            <a:avLst/>
          </a:prstGeom>
          <a:solidFill>
            <a:srgbClr val="8899B4">
              <a:alpha val="3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9319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미서명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783080" y="3931920"/>
            <a:ext cx="822960" cy="274320"/>
          </a:xfrm>
          <a:prstGeom prst="rect">
            <a:avLst/>
          </a:prstGeom>
          <a:solidFill>
            <a:srgbClr val="10B981">
              <a:alpha val="3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783080" y="39319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서명됨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0" y="3931920"/>
            <a:ext cx="822960" cy="274320"/>
          </a:xfrm>
          <a:prstGeom prst="rect">
            <a:avLst/>
          </a:prstGeom>
          <a:solidFill>
            <a:srgbClr val="F59E0B">
              <a:alpha val="3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0" y="39319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확인중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703320" y="3931920"/>
            <a:ext cx="822960" cy="274320"/>
          </a:xfrm>
          <a:prstGeom prst="rect">
            <a:avLst/>
          </a:prstGeom>
          <a:solidFill>
            <a:srgbClr val="EF4444">
              <a:alpha val="3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703320" y="39319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만료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46320" y="1371600"/>
            <a:ext cx="3749040" cy="3383280"/>
          </a:xfrm>
          <a:prstGeom prst="rect">
            <a:avLst/>
          </a:prstGeom>
          <a:solidFill>
            <a:srgbClr val="111D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74920" y="1463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계약 상세 화면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74920" y="182880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계약 본문: 위·수탁 표준계약서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별지1: 개인정보 수집/이용 동의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별지2: 제3자 제공 동의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서명 후 PDF 다운로드 링크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74920" y="32004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계약 변경 요청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74920" y="34747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단가 변경, 보험 변경 등 알림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변경 전/후 비교 → 수락/거부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/ 28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C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E-SIGNATURE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전자서명 절차 (5단계)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307592"/>
            <a:ext cx="365760" cy="365760"/>
          </a:xfrm>
          <a:prstGeom prst="ellipse">
            <a:avLst/>
          </a:prstGeom>
          <a:solidFill>
            <a:srgbClr val="00CEC9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07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2344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동의 항목 체크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149047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5개 항목: 계약내용, 개인정보수집,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고유식별정보, 제3자제공, 고유식별 제3자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77240" y="1691640"/>
            <a:ext cx="0" cy="292608"/>
          </a:xfrm>
          <a:prstGeom prst="line">
            <a:avLst/>
          </a:prstGeom>
          <a:noFill/>
          <a:ln w="12700">
            <a:solidFill>
              <a:srgbClr val="1E30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05740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19842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동의 방식 선택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22402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전체동의 한번에 또는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개별항목 하나씩 체크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77240" y="2441448"/>
            <a:ext cx="0" cy="292608"/>
          </a:xfrm>
          <a:prstGeom prst="line">
            <a:avLst/>
          </a:prstGeom>
          <a:noFill/>
          <a:ln w="12700">
            <a:solidFill>
              <a:srgbClr val="1E30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2807208"/>
            <a:ext cx="365760" cy="365760"/>
          </a:xfrm>
          <a:prstGeom prst="ellipse">
            <a:avLst/>
          </a:prstGeom>
          <a:solidFill>
            <a:srgbClr val="00CEC9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807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273405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본인인증 (선택)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3000" y="29900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PASS: 통신사 본인확인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카카오: 카카오톡 간편인증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77240" y="3191256"/>
            <a:ext cx="0" cy="292608"/>
          </a:xfrm>
          <a:prstGeom prst="line">
            <a:avLst/>
          </a:prstGeom>
          <a:noFill/>
          <a:ln w="12700">
            <a:solidFill>
              <a:srgbClr val="1E30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3557016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557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348386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서명 입력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43000" y="373989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서명 패드에 직접 터치 드로잉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 기반 실시간 서명 캡처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77240" y="3941064"/>
            <a:ext cx="0" cy="292608"/>
          </a:xfrm>
          <a:prstGeom prst="line">
            <a:avLst/>
          </a:prstGeom>
          <a:noFill/>
          <a:ln w="12700">
            <a:solidFill>
              <a:srgbClr val="1E30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4306824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4306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43000" y="42336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서명 제출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43000" y="448970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계약 완료 + 서명 PDF 자동 생성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 추적 데이터 수집 완료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0" y="1234440"/>
            <a:ext cx="3200400" cy="3566160"/>
          </a:xfrm>
          <a:prstGeom prst="rect">
            <a:avLst/>
          </a:prstGeom>
          <a:solidFill>
            <a:srgbClr val="111D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669280" y="1325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 추적 데이터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669280" y="1691640"/>
            <a:ext cx="2834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서명 이미지 (Base64 SVG)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서명자 IP 주소 (자동 수집)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디바이스 정보 (User Agent)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서명 일시 (Timestamp)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5개 동의 항목 기록 (Boolean)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인증 방식 (PASS/카카오/앱인증)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 로그 JSON 전체 기록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669280" y="43891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전자문서법 준수 감사 추적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/ 28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C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교육 탭: 법정 의무교육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4114800" cy="3383280"/>
          </a:xfrm>
          <a:prstGeom prst="rect">
            <a:avLst/>
          </a:prstGeom>
          <a:solidFill>
            <a:srgbClr val="111D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교육 목록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82880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 뱃지: 이수완료 / 진행중(%) / 미수강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이수 현황: 'X/Y 이수' 표시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카테고리별 교육: 안전운전, 법규 등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진행 중 과정 → 프로그레스 바 표시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 시 이수증번호 + 완료일 표시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371600"/>
            <a:ext cx="3749040" cy="3383280"/>
          </a:xfrm>
          <a:prstGeom prst="rect">
            <a:avLst/>
          </a:prstGeom>
          <a:solidFill>
            <a:srgbClr val="111D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74920" y="1463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3단계 학습 프로세스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74920" y="1920240"/>
            <a:ext cx="320040" cy="320040"/>
          </a:xfrm>
          <a:prstGeom prst="ellipse">
            <a:avLst/>
          </a:prstGeom>
          <a:solidFill>
            <a:srgbClr val="00CEC9"/>
          </a:solidFill>
          <a:ln/>
        </p:spPr>
      </p:sp>
      <p:sp>
        <p:nvSpPr>
          <p:cNvPr id="12" name="Text 10"/>
          <p:cNvSpPr/>
          <p:nvPr/>
        </p:nvSpPr>
        <p:spPr>
          <a:xfrm>
            <a:off x="5074920" y="1920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32120" y="19019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동영상 시청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532120" y="21214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영상 플레이어 재생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시청 시간 자동 기록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74920" y="278892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5074920" y="2788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532120" y="277063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 읽기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532120" y="299008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교육 자료 스크롤 읽기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읽기 시간 자동 기록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74920" y="365760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5074920" y="3657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532120" y="363931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퀴즈 풀기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532120" y="385876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객관식 문제 풀이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합격점 이상 시 이수완료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74920" y="4297680"/>
            <a:ext cx="3291840" cy="320040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166360" y="43159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인증: 3-7분 랜덤 확인팝업 + 탭전환 감지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/ 28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C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공지 탭: 대리점 공지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029200" cy="3200400"/>
          </a:xfrm>
          <a:prstGeom prst="rect">
            <a:avLst/>
          </a:prstGeom>
          <a:solidFill>
            <a:srgbClr val="111D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공지사항 목록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1874520"/>
            <a:ext cx="914400" cy="274320"/>
          </a:xfrm>
          <a:prstGeom prst="rect">
            <a:avLst/>
          </a:prstGeom>
          <a:solidFill>
            <a:srgbClr val="162036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874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920240" y="1874520"/>
            <a:ext cx="914400" cy="274320"/>
          </a:xfrm>
          <a:prstGeom prst="rect">
            <a:avLst/>
          </a:prstGeom>
          <a:solidFill>
            <a:srgbClr val="111D32"/>
          </a:solidFill>
          <a:ln/>
        </p:spPr>
      </p:sp>
      <p:sp>
        <p:nvSpPr>
          <p:cNvPr id="11" name="Text 9"/>
          <p:cNvSpPr/>
          <p:nvPr/>
        </p:nvSpPr>
        <p:spPr>
          <a:xfrm>
            <a:off x="1920240" y="1874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공지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017520" y="1874520"/>
            <a:ext cx="914400" cy="274320"/>
          </a:xfrm>
          <a:prstGeom prst="rect">
            <a:avLst/>
          </a:prstGeom>
          <a:solidFill>
            <a:srgbClr val="111D32"/>
          </a:solidFill>
          <a:ln/>
        </p:spPr>
      </p:sp>
      <p:sp>
        <p:nvSpPr>
          <p:cNvPr id="13" name="Text 11"/>
          <p:cNvSpPr/>
          <p:nvPr/>
        </p:nvSpPr>
        <p:spPr>
          <a:xfrm>
            <a:off x="3017520" y="1874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가이드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1874520"/>
            <a:ext cx="914400" cy="274320"/>
          </a:xfrm>
          <a:prstGeom prst="rect">
            <a:avLst/>
          </a:prstGeom>
          <a:solidFill>
            <a:srgbClr val="111D32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0" y="1874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업데이트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" y="244144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23317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3월 정산 안내사항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" y="25603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공지  |  2026.03.25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22960" y="294436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1051560" y="28346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안전운전 가이드 업데이트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51560" y="30632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가이드  |  2026.03.20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51560" y="33375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앱 버전 2.1.0 업데이트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51560" y="35661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업데이트  |  2026.03.15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51560" y="38404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 연휴 운영 안내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51560" y="40690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공지  |  2026.03.10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852160" y="1371600"/>
            <a:ext cx="2743200" cy="3200400"/>
          </a:xfrm>
          <a:prstGeom prst="rect">
            <a:avLst/>
          </a:prstGeom>
          <a:solidFill>
            <a:srgbClr val="111D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035040" y="1463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035040" y="182880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카테고리 필터링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읽지 않은 알림 표시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카테고리별 색상 구분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날짜순 정렬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상세 내용 조회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/ 28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C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프로필 탭: 내 정보 관리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4114800" cy="1097280"/>
          </a:xfrm>
          <a:prstGeom prst="rect">
            <a:avLst/>
          </a:prstGeom>
          <a:solidFill>
            <a:srgbClr val="111D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508760"/>
            <a:ext cx="731520" cy="731520"/>
          </a:xfrm>
          <a:prstGeom prst="ellipse">
            <a:avLst/>
          </a:prstGeom>
          <a:solidFill>
            <a:srgbClr val="004AC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508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홍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91640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홍길동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91640" y="18470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로지스틱스 대리점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가입일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28346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2026.01.15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57400" y="26517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계약상태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057400" y="28346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활성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26517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미서명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37560" y="28346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1건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200400"/>
            <a:ext cx="4114800" cy="1554480"/>
          </a:xfrm>
          <a:prstGeom prst="rect">
            <a:avLst/>
          </a:prstGeom>
          <a:solidFill>
            <a:srgbClr val="111D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내 정보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36393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연락처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39867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차량번호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43342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서류 관리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1371600"/>
            <a:ext cx="3749040" cy="1828800"/>
          </a:xfrm>
          <a:prstGeom prst="rect">
            <a:avLst/>
          </a:prstGeom>
          <a:solidFill>
            <a:srgbClr val="111D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74920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알림 설정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74920" y="1828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정산서 알림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680960" y="1874520"/>
            <a:ext cx="548640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7680960" y="18745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074920" y="2194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공지사항 알림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680960" y="2240280"/>
            <a:ext cx="548640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7680960" y="22402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074920" y="2560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계약 알림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680960" y="2606040"/>
            <a:ext cx="548640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7680960" y="26060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846320" y="3429000"/>
            <a:ext cx="3749040" cy="1325880"/>
          </a:xfrm>
          <a:prstGeom prst="rect">
            <a:avLst/>
          </a:prstGeom>
          <a:solidFill>
            <a:srgbClr val="111D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074920" y="3520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앱 정보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74920" y="3840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버전 정보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74920" y="4114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이용약관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74920" y="43891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개인정보처리방침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/ 28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C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SaaS 구독 모델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1965960" cy="2926080"/>
          </a:xfrm>
          <a:prstGeom prst="rect">
            <a:avLst/>
          </a:prstGeom>
          <a:solidFill>
            <a:srgbClr val="111D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5087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899B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8288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₩0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54480" y="1965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/월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2286000"/>
            <a:ext cx="1600200" cy="0"/>
          </a:xfrm>
          <a:prstGeom prst="line">
            <a:avLst/>
          </a:prstGeom>
          <a:noFill/>
          <a:ln w="6350">
            <a:solidFill>
              <a:srgbClr val="1E30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42316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기본 기능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74320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기사 5명 제한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06324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정산 기본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60320" y="1371600"/>
            <a:ext cx="1965960" cy="2926080"/>
          </a:xfrm>
          <a:prstGeom prst="rect">
            <a:avLst/>
          </a:prstGeom>
          <a:solidFill>
            <a:srgbClr val="111D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560320" y="15087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Basic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560320" y="18288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₩49,900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749040" y="1965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/월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0" y="2286000"/>
            <a:ext cx="1600200" cy="0"/>
          </a:xfrm>
          <a:prstGeom prst="line">
            <a:avLst/>
          </a:prstGeom>
          <a:noFill/>
          <a:ln w="6350">
            <a:solidFill>
              <a:srgbClr val="1E30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97480" y="242316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기사 30명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97480" y="274320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정산 + 계약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697480" y="306324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엑셀 업로드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1371600"/>
            <a:ext cx="1965960" cy="2926080"/>
          </a:xfrm>
          <a:prstGeom prst="rect">
            <a:avLst/>
          </a:prstGeom>
          <a:solidFill>
            <a:srgbClr val="004AC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120640" y="1280160"/>
            <a:ext cx="1234440" cy="228600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24" name="Text 22"/>
          <p:cNvSpPr/>
          <p:nvPr/>
        </p:nvSpPr>
        <p:spPr>
          <a:xfrm>
            <a:off x="5120640" y="128016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54880" y="15087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EC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Standard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54880" y="18288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₩99,900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943600" y="1965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/월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937760" y="2286000"/>
            <a:ext cx="1600200" cy="0"/>
          </a:xfrm>
          <a:prstGeom prst="line">
            <a:avLst/>
          </a:prstGeom>
          <a:noFill/>
          <a:ln w="6350">
            <a:solidFill>
              <a:srgbClr val="1E30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242316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기사 80명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92040" y="274320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전체 기능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92040" y="306324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법정교육 포함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949440" y="1371600"/>
            <a:ext cx="1965960" cy="2926080"/>
          </a:xfrm>
          <a:prstGeom prst="rect">
            <a:avLst/>
          </a:prstGeom>
          <a:solidFill>
            <a:srgbClr val="111D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949440" y="15087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Enterprise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949440" y="18288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커스텀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8138160" y="1965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/월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132320" y="2286000"/>
            <a:ext cx="1600200" cy="0"/>
          </a:xfrm>
          <a:prstGeom prst="line">
            <a:avLst/>
          </a:prstGeom>
          <a:noFill/>
          <a:ln w="6350">
            <a:solidFill>
              <a:srgbClr val="1E30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86600" y="242316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무제한 기사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086600" y="274320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전담 지원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086600" y="306324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맞춤 개발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48640" y="4480560"/>
            <a:ext cx="8046720" cy="411480"/>
          </a:xfrm>
          <a:prstGeom prst="rect">
            <a:avLst/>
          </a:prstGeom>
          <a:solidFill>
            <a:srgbClr val="111D32"/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" y="44805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 주기:  월결제  |  1년 (10%↓)  |  2년 (15%↓)  |  3년 (20%↓)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/ 28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C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기술 스택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840480" cy="1463040"/>
          </a:xfrm>
          <a:prstGeom prst="rect">
            <a:avLst/>
          </a:prstGeom>
          <a:solidFill>
            <a:srgbClr val="111D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444752"/>
            <a:ext cx="45720" cy="131673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63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프론트엔드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17830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Next.js 14 (App Router)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02996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React 18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27685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TypeScript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5237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Tailwind CSS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371600"/>
            <a:ext cx="3840480" cy="1463040"/>
          </a:xfrm>
          <a:prstGeom prst="rect">
            <a:avLst/>
          </a:prstGeom>
          <a:solidFill>
            <a:srgbClr val="111D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444752"/>
            <a:ext cx="45720" cy="1316736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463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모바일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17830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Expo SDK 54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02996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React Native 0.79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27685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Expo Router v5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5237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Zustand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3840480" cy="1463040"/>
          </a:xfrm>
          <a:prstGeom prst="rect">
            <a:avLst/>
          </a:prstGeom>
          <a:solidFill>
            <a:srgbClr val="111D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182112"/>
            <a:ext cx="45720" cy="1316736"/>
          </a:xfrm>
          <a:prstGeom prst="rect">
            <a:avLst/>
          </a:prstGeom>
          <a:solidFill>
            <a:srgbClr val="004AC6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200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백엔드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35204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Supabase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37673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PostgreSQL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401421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Supabase Auth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426110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Edge Functions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3108960"/>
            <a:ext cx="3840480" cy="1463040"/>
          </a:xfrm>
          <a:prstGeom prst="rect">
            <a:avLst/>
          </a:prstGeom>
          <a:solidFill>
            <a:srgbClr val="111D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3182112"/>
            <a:ext cx="45720" cy="131673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4937760" y="3200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보안/인프라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937760" y="35204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RLS 20+ 정책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37760" y="37673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멀티테넌트 격리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37760" y="401421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전자서명 감사로그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37760" y="426110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26 테이블 DB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/ 28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C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개발 진행 현황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810512"/>
            <a:ext cx="0" cy="548640"/>
          </a:xfrm>
          <a:prstGeom prst="line">
            <a:avLst/>
          </a:prstGeom>
          <a:noFill/>
          <a:ln w="19050">
            <a:solidFill>
              <a:srgbClr val="1E30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M001: Full-Stack Foundation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16459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2026.03.29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26080" y="16459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19테이블 DB, 웹 정산/계약, 모바일 전자서명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51460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2816352"/>
            <a:ext cx="0" cy="548640"/>
          </a:xfrm>
          <a:prstGeom prst="line">
            <a:avLst/>
          </a:prstGeom>
          <a:noFill/>
          <a:ln w="19050">
            <a:solidFill>
              <a:srgbClr val="1E30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377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M002: All Pages Complete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26517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2026.03.29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26080" y="265176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30p, 모바일 5탭, 정산표시설정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3383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M003: Real Data Testing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3657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진행중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26080" y="36576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실데이터 품질 게이트 평가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840480"/>
            <a:ext cx="1828800" cy="1005840"/>
          </a:xfrm>
          <a:prstGeom prst="rect">
            <a:avLst/>
          </a:prstGeom>
          <a:solidFill>
            <a:srgbClr val="111D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" y="39502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48640" y="4389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 에러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606040" y="3840480"/>
            <a:ext cx="1828800" cy="1005840"/>
          </a:xfrm>
          <a:prstGeom prst="rect">
            <a:avLst/>
          </a:prstGeom>
          <a:solidFill>
            <a:srgbClr val="111D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606040" y="39502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EC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28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2606040" y="4389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파일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3840480"/>
            <a:ext cx="1828800" cy="1005840"/>
          </a:xfrm>
          <a:prstGeom prst="rect">
            <a:avLst/>
          </a:prstGeom>
          <a:solidFill>
            <a:srgbClr val="111D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663440" y="39502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4663440" y="4389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페이지 수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720840" y="3840480"/>
            <a:ext cx="1828800" cy="1005840"/>
          </a:xfrm>
          <a:prstGeom prst="rect">
            <a:avLst/>
          </a:prstGeom>
          <a:solidFill>
            <a:srgbClr val="111D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720840" y="39502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EC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26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6720840" y="4389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테이블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/ 28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C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2026 개발 로드맵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2011680" cy="3200400"/>
          </a:xfrm>
          <a:prstGeom prst="rect">
            <a:avLst/>
          </a:prstGeom>
          <a:solidFill>
            <a:srgbClr val="111D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71600"/>
            <a:ext cx="201168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371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Q2 2026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6276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강화 + 베타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5488" y="196596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M003 완료 (실데이터 테스트)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이슈 해결 (키관리, API인증)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베타 테스트 (5개 대리점)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0" y="1371600"/>
            <a:ext cx="2011680" cy="3200400"/>
          </a:xfrm>
          <a:prstGeom prst="rect">
            <a:avLst/>
          </a:prstGeom>
          <a:solidFill>
            <a:srgbClr val="111D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0" y="1371600"/>
            <a:ext cx="201168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2560320" y="1371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Q3 2026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60320" y="16276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 완성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670048" y="196596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SMS/푸시 알림 연동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본인인증 (PASS/카카오)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 시스템 구축 (PortOne)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371600"/>
            <a:ext cx="2011680" cy="3200400"/>
          </a:xfrm>
          <a:prstGeom prst="rect">
            <a:avLst/>
          </a:prstGeom>
          <a:solidFill>
            <a:srgbClr val="111D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371600"/>
            <a:ext cx="2011680" cy="457200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371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Q4 2026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0" y="16276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정식 출시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64608" y="196596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앱스토어 등록 (iOS/Android)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초기 고객 확보 (50 대리점)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지원 체계 구축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949440" y="1371600"/>
            <a:ext cx="2011680" cy="3200400"/>
          </a:xfrm>
          <a:prstGeom prst="rect">
            <a:avLst/>
          </a:prstGeom>
          <a:solidFill>
            <a:srgbClr val="111D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949440" y="1371600"/>
            <a:ext cx="201168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6949440" y="1371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Q1 2027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49440" y="16276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성장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059168" y="196596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 고도화 (AI 정산 검증)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마케팅 확대 (영업팀 구성)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Component 최적화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/ 28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C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매출 전망 (3개년)</a:t>
            </a:r>
            <a:endParaRPr lang="en-US" sz="2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280160"/>
          <a:ext cx="50292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760720" y="1280160"/>
            <a:ext cx="2926080" cy="3383280"/>
          </a:xfrm>
          <a:prstGeom prst="rect">
            <a:avLst/>
          </a:prstGeom>
          <a:solidFill>
            <a:srgbClr val="111D3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943600" y="1371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지표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0" y="17830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43600" y="19842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대리점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943600" y="216712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₩30M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315200" y="198424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₩49,900 ARPU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943600" y="26517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943600" y="285292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대리점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943600" y="30358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₩156M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315200" y="285292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₩65,000 ARPU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943600" y="35204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943600" y="372160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대리점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943600" y="39044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₩480M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315200" y="372160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₩80,000 ARPU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943600" y="3931920"/>
            <a:ext cx="2560320" cy="365760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5989320" y="39502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BEP: Year 2 중반 (150 대리점)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989320" y="43434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초기 투자: 약 3억원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914400"/>
            <a:ext cx="5486400" cy="5486400"/>
          </a:xfrm>
          <a:prstGeom prst="ellipse">
            <a:avLst/>
          </a:prstGeom>
          <a:solidFill>
            <a:srgbClr val="004AC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286000"/>
            <a:ext cx="4572000" cy="4572000"/>
          </a:xfrm>
          <a:prstGeom prst="ellipse">
            <a:avLst/>
          </a:prstGeom>
          <a:solidFill>
            <a:srgbClr val="00CEC9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144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logiSSign과 함께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배송 대리점의 미래를 바꿉니다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2377440"/>
            <a:ext cx="1371600" cy="36576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651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정산 자동화 + 전자계약 + 법정교육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9077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C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올인원 SaaS 플랫폼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배송 대리점 특화 + 기사앱 통합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54787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C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시장 유일의 통합 솔루션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9319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 15,000개 배송 대리점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4187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C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디지털 전환 파트너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500" kern="0" dirty="0">
                <a:solidFill>
                  <a:srgbClr val="5A6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logiSSign  |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logiSSign (DeliSign) 사업계획서</dc:title>
  <dc:subject>PptxGenJS Presentation</dc:subject>
  <dc:creator>logiSSign Team</dc:creator>
  <cp:lastModifiedBy>logiSSign Team</cp:lastModifiedBy>
  <cp:revision>1</cp:revision>
  <dcterms:created xsi:type="dcterms:W3CDTF">2026-03-31T02:41:52Z</dcterms:created>
  <dcterms:modified xsi:type="dcterms:W3CDTF">2026-03-31T02:41:52Z</dcterms:modified>
</cp:coreProperties>
</file>